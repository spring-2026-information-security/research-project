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2191695" cy="54864"/>
          </a:xfrm>
          <a:prstGeom prst="rect">
            <a:avLst/>
          </a:prstGeom>
          <a:solidFill>
            <a:srgbClr val="D3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CS 47205/57205 · 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Measuring Online Password Guessing Resistance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1A3B5C"/>
                </a:solidFill>
                <a:latin typeface="Calibri"/>
              </a:rPr>
              <a:t>A reproducible measurement framework for authentication defenses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Austin &amp; Ian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Why measure password-guessing defenses systematically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4415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Online password guessing is the single most common identity attack on the public Internet.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Every authentication system ships a different mix of defenses:</a:t>
            </a:r>
          </a:p>
          <a:p>
            <a:pPr lvl="1"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- </a:t>
            </a:r>
            <a:r>
              <a:rPr sz="1800">
                <a:solidFill>
                  <a:srgbClr val="1F1F1F"/>
                </a:solidFill>
                <a:latin typeface="Calibri"/>
              </a:rPr>
              <a:t>account lockout, IP rate limiting, progressive delays, CAPTCHAs, MFA, anomaly detection, bot filters …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These defenses interact in non-obvious ways and are often misconfigured.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840480"/>
            <a:ext cx="11094415" cy="54864"/>
          </a:xfrm>
          <a:prstGeom prst="rect">
            <a:avLst/>
          </a:prstGeom>
          <a:solidFill>
            <a:srgbClr val="D3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1094415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D33636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Question: how do these defenses actually compare under controlled, repeatable measurement?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D33636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Goal: build attacker + target framework, drive each defense through hundreds of trials, produce a comparable security profile so two configurations can be argued about with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What we model and what we don't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7729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 scope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Out of scope (future work)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Attempts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Sequential HTTP login requests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Parallel / distributed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Source IPs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Single IP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Botnets, proxy pools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Targets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One known username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Credential stuffing, password spraying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Wordlist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Real public corpora (SecLists 10k)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Adaptive / personalised guesses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Knowledge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Black-box: only HTTP responses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Insider / source-code visibility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1206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1F1F"/>
                </a:solidFill>
                <a:latin typeface="Calibri"/>
              </a:rPr>
              <a:t>Attacker capability tiers - naive bot, PoW-solving bot, human-in-the-loop - are explicit knobs in the framework.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520440"/>
            <a:ext cx="12191695" cy="54864"/>
          </a:xfrm>
          <a:prstGeom prst="rect">
            <a:avLst/>
          </a:prstGeom>
          <a:solidFill>
            <a:srgbClr val="D3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10944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Testbed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F5C8A"/>
                </a:solidFill>
                <a:latin typeface="Calibri"/>
              </a:rPr>
              <a:t>How we measure each defense reproducibly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Testbed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Four pieces, each independently configurable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• </a:t>
            </a:r>
            <a:r>
              <a:rPr sz="1700">
                <a:solidFill>
                  <a:srgbClr val="1F1F1F"/>
                </a:solidFill>
                <a:latin typeface="Calibri"/>
              </a:rPr>
              <a:t>Target system: a small Flask login service. Every defense is a tunable knob.</a:t>
            </a:r>
          </a:p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• </a:t>
            </a:r>
            <a:r>
              <a:rPr sz="1700">
                <a:solidFill>
                  <a:srgbClr val="1F1F1F"/>
                </a:solidFill>
                <a:latin typeface="Calibri"/>
              </a:rPr>
              <a:t>Attacker client: a single password-guessing tool with capability flags for naive bots, PoW-solving bots, and human-in-the-loop attackers.</a:t>
            </a:r>
          </a:p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• </a:t>
            </a:r>
            <a:r>
              <a:rPr sz="1700">
                <a:solidFill>
                  <a:srgbClr val="1F1F1F"/>
                </a:solidFill>
                <a:latin typeface="Calibri"/>
              </a:rPr>
              <a:t>Orchestrator: boots a fresh target per configuration, runs the attacker, aggregates results.</a:t>
            </a:r>
          </a:p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• </a:t>
            </a:r>
            <a:r>
              <a:rPr sz="1700">
                <a:solidFill>
                  <a:srgbClr val="1F1F1F"/>
                </a:solidFill>
                <a:latin typeface="Calibri"/>
              </a:rPr>
              <a:t>Wordlist source: real public corpora (SecLists), sampled per trial.</a:t>
            </a:r>
          </a:p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• </a:t>
            </a:r>
            <a:r>
              <a:rPr sz="1700">
                <a:solidFill>
                  <a:srgbClr val="1F1F1F"/>
                </a:solidFill>
                <a:latin typeface="Calibri"/>
              </a:rPr>
              <a:t>Each trial gets an isolated process and a fresh port - no state leaks between configurations.</a:t>
            </a:r>
          </a:p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• </a:t>
            </a:r>
            <a:r>
              <a:rPr sz="1700">
                <a:solidFill>
                  <a:srgbClr val="1F1F1F"/>
                </a:solidFill>
                <a:latin typeface="Calibri"/>
              </a:rPr>
              <a:t>Every measurement is seeded and reproducible from the same inputs.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Wordlist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Distribution, not anecdote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4415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• </a:t>
            </a:r>
            <a:r>
              <a:rPr sz="1700">
                <a:solidFill>
                  <a:srgbClr val="1F1F1F"/>
                </a:solidFill>
                <a:latin typeface="Calibri"/>
              </a:rPr>
              <a:t>Old approach: one fixed wordlist with the password at a known position. One data point.</a:t>
            </a:r>
          </a:p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• </a:t>
            </a:r>
            <a:r>
              <a:rPr sz="1700">
                <a:solidFill>
                  <a:srgbClr val="1F1F1F"/>
                </a:solidFill>
                <a:latin typeface="Calibri"/>
              </a:rPr>
              <a:t>New approach: every trial gets its own randomized wordlist:</a:t>
            </a:r>
          </a:p>
          <a:p>
            <a:pPr lvl="1"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- </a:t>
            </a:r>
            <a:r>
              <a:rPr sz="1700">
                <a:solidFill>
                  <a:srgbClr val="1F1F1F"/>
                </a:solidFill>
                <a:latin typeface="Calibri"/>
              </a:rPr>
              <a:t>Sample N entries from a real public password corpus (SecLists 10k).</a:t>
            </a:r>
          </a:p>
          <a:p>
            <a:pPr lvl="1"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- </a:t>
            </a:r>
            <a:r>
              <a:rPr sz="1700">
                <a:solidFill>
                  <a:srgbClr val="1F1F1F"/>
                </a:solidFill>
                <a:latin typeface="Calibri"/>
              </a:rPr>
              <a:t>Insert the target password at a uniformly-random position.</a:t>
            </a:r>
          </a:p>
          <a:p>
            <a:pPr lvl="1" algn="l">
              <a:lnSpc>
                <a:spcPct val="115000"/>
              </a:lnSpc>
            </a:pPr>
            <a:r>
              <a:rPr sz="1700" b="1">
                <a:solidFill>
                  <a:srgbClr val="1A3B5C"/>
                </a:solidFill>
                <a:latin typeface="Calibri"/>
              </a:rPr>
              <a:t>- </a:t>
            </a:r>
            <a:r>
              <a:rPr sz="1700">
                <a:solidFill>
                  <a:srgbClr val="1F1F1F"/>
                </a:solidFill>
                <a:latin typeface="Calibri"/>
              </a:rPr>
              <a:t>Record the seed and target position so the trial is reproducible.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572000"/>
            <a:ext cx="11094415" cy="54864"/>
          </a:xfrm>
          <a:prstGeom prst="rect">
            <a:avLst/>
          </a:prstGeom>
          <a:solidFill>
            <a:srgbClr val="2D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11094415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D8F5A"/>
                </a:solidFill>
                <a:latin typeface="Calibri"/>
              </a:rPr>
              <a:t>• </a:t>
            </a:r>
            <a:r>
              <a:rPr sz="1600">
                <a:solidFill>
                  <a:srgbClr val="1F1F1F"/>
                </a:solidFill>
                <a:latin typeface="Calibri"/>
              </a:rPr>
              <a:t>50 trials per config x 21 configs x 4 wordlist sizes (100 / 200 / 300 / 500) = 3,500+ trial measurements.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2D8F5A"/>
                </a:solidFill>
                <a:latin typeface="Calibri"/>
              </a:rPr>
              <a:t>• </a:t>
            </a:r>
            <a:r>
              <a:rPr sz="1600">
                <a:solidFill>
                  <a:srgbClr val="1F1F1F"/>
                </a:solidFill>
                <a:latin typeface="Calibri"/>
              </a:rPr>
              <a:t>Each defense exercised against 50 randomized target depths per wordlist size.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2D8F5A"/>
                </a:solidFill>
                <a:latin typeface="Calibri"/>
              </a:rPr>
              <a:t>• </a:t>
            </a:r>
            <a:r>
              <a:rPr sz="1600">
                <a:solidFill>
                  <a:srgbClr val="1F1F1F"/>
                </a:solidFill>
                <a:latin typeface="Calibri"/>
              </a:rPr>
              <a:t>Headline 100-word run finished in 13.7 hours; longer runs were stopped after the layered configs.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Attacker capability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Defenses that beat one tier are bypassed by another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7729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Naive scripted bot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Sends username and password. No JavaScript, no humans, no header spoofing.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Header-aware bot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Same as above, but spoofs a normal browser User-Agent.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PoW-solving bot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Includes a SHA-256 puzzle solver in its loop.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Human-in-the-loop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A human (or commercial solver service) handles CAPTCHAs.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A6A6A"/>
                </a:solidFill>
                <a:latin typeface="Calibri"/>
              </a:rPr>
              <a:t>Same attacker tool models all four tiers - we toggle behaviour per run to compare each defense across the spectrum.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520440"/>
            <a:ext cx="12191695" cy="54864"/>
          </a:xfrm>
          <a:prstGeom prst="rect">
            <a:avLst/>
          </a:prstGeom>
          <a:solidFill>
            <a:srgbClr val="D3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10944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Protections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F5C8A"/>
                </a:solidFill>
                <a:latin typeface="Calibri"/>
              </a:rPr>
              <a:t>Ten mechanisms across four categories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Ten defenses, four required categories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Required project categories highlighted in navy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63040"/>
          <a:ext cx="1146017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44888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3B5C"/>
                          </a:solidFill>
                          <a:latin typeface="Calibri"/>
                        </a:rPr>
                        <a:t>Account lockout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Account lockout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Freezes the account for a duration after N consecutive failures.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3B5C"/>
                          </a:solidFill>
                          <a:latin typeface="Calibri"/>
                        </a:rPr>
                        <a:t>Rate limiting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IP rate limit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Caps attempts from a single IP in a sliding window.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3B5C"/>
                          </a:solidFill>
                          <a:latin typeface="Calibri"/>
                        </a:rPr>
                        <a:t>Rate limiting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Permanent IP ban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Blacklists the IP after K failures within a long window.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3B5C"/>
                          </a:solidFill>
                          <a:latin typeface="Calibri"/>
                        </a:rPr>
                        <a:t>Progressive delays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Tarpit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Server sleeps a fixed amount before each failed response.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3B5C"/>
                          </a:solidFill>
                          <a:latin typeface="Calibri"/>
                        </a:rPr>
                        <a:t>Progressive delays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IP exponential backoff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Per-IP cooldown that doubles with each failure, with a cap.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6A6A6A"/>
                          </a:solidFill>
                          <a:latin typeface="Calibri"/>
                        </a:rPr>
                        <a:t>Cost amplification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Slow password hash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pbkdf2 or scrypt to inflate per-attempt CPU cost on the server.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6A6A6A"/>
                          </a:solidFill>
                          <a:latin typeface="Calibri"/>
                        </a:rPr>
                        <a:t>Bot vs human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Proof-of-work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Server demands a SHA-256 puzzle after N failures.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6A6A6A"/>
                          </a:solidFill>
                          <a:latin typeface="Calibri"/>
                        </a:rPr>
                        <a:t>Bot vs human filter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CAPTCHA challenge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Server demands a human-solvable token after N failures.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6A6A6A"/>
                          </a:solidFill>
                          <a:latin typeface="Calibri"/>
                        </a:rPr>
                        <a:t>Bot vs human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Honeypot usernames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Contact with watched usernames (admin, root) triggers an instant ban.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6A6A6A"/>
                          </a:solidFill>
                          <a:latin typeface="Calibri"/>
                        </a:rPr>
                        <a:t>Bot vs human filter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Header anomaly detection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1F1F"/>
                          </a:solidFill>
                          <a:latin typeface="Calibri"/>
                        </a:rPr>
                        <a:t>Block requests missing typical browser headers.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How they're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Six metrics per config form a comparable security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Breach rate - fraction of trials where the attacker hit the password.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Median time-to-crack - wall-clock seconds, with min/max range.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Effective request rate - requests/sec the attacker could sustain.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Response status mix - 401 / 423 / 429 / 403 by reason (PoW required, CAPTCHA, account locked, IP banned, anomaly).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First-hit position - where in the wordlist the password was found.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Position vs time scatter - how time-to-crack scales with target depth.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520440"/>
            <a:ext cx="12191695" cy="54864"/>
          </a:xfrm>
          <a:prstGeom prst="rect">
            <a:avLst/>
          </a:prstGeom>
          <a:solidFill>
            <a:srgbClr val="D3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10944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F5C8A"/>
                </a:solidFill>
                <a:latin typeface="Calibri"/>
              </a:rPr>
              <a:t>What blocked, what just slowed the attacker down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Summary across 21 configs x 50 trials (100-word run)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Three regimes: hard block, lottery window, slow-down only</a:t>
            </a:r>
          </a:p>
        </p:txBody>
      </p:sp>
      <p:pic>
        <p:nvPicPr>
          <p:cNvPr id="5" name="Picture 4" descr="char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858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73736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D8F5A"/>
                </a:solidFill>
                <a:latin typeface="Calibri"/>
              </a:rPr>
              <a:t>Hard block (0%)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1945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3 of 21: defense fires from request 1 (honeypot, anomaly, exp-backoff).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92608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7A00"/>
                </a:solidFill>
                <a:latin typeface="Calibri"/>
              </a:rPr>
              <a:t>Lottery window (2-4%)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38328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8 of 21: gated on N=5 fails - breach when password lands in attempts 1-5.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29768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D33636"/>
                </a:solidFill>
                <a:latin typeface="Calibri"/>
              </a:rPr>
              <a:t>Slow-down only (100%)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7548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9 of 21: attacker waits, password comes out every trial.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4864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7A00"/>
                </a:solidFill>
                <a:latin typeface="Calibri"/>
              </a:rPr>
              <a:t>Probabilistic (82%)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59436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F2_pow_22bit - solver sometimes blew its budget.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Hard block (0% breach in 50 trials)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Defense fires from request 1 - attacker never gets a foothold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Median elapsed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Why it blocks instantly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3B5C"/>
                          </a:solidFill>
                          <a:latin typeface="Calibri"/>
                        </a:rPr>
                        <a:t>L_honeypot_username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0.5s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Username 'admin' triggers permanent ban on request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3B5C"/>
                          </a:solidFill>
                          <a:latin typeface="Calibri"/>
                        </a:rPr>
                        <a:t>M_anomaly_no_ua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0.5s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Missing User-Agent flagged on request 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3B5C"/>
                          </a:solidFill>
                          <a:latin typeface="Calibri"/>
                        </a:rPr>
                        <a:t>E_ip_exp_backoff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0.7s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Per-IP backoff hits cap before any breach window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4023360"/>
            <a:ext cx="11094415" cy="54864"/>
          </a:xfrm>
          <a:prstGeom prst="rect">
            <a:avLst/>
          </a:prstGeom>
          <a:solidFill>
            <a:srgbClr val="2D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094415" cy="2103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D8F5A"/>
                </a:solidFill>
                <a:latin typeface="Calibri"/>
              </a:rPr>
              <a:t>• </a:t>
            </a:r>
            <a:r>
              <a:rPr sz="1500">
                <a:solidFill>
                  <a:srgbClr val="1F1F1F"/>
                </a:solidFill>
                <a:latin typeface="Calibri"/>
              </a:rPr>
              <a:t>These are the only configs that block before the password could possibly be tried.</a:t>
            </a:r>
          </a:p>
          <a:p>
            <a:pPr algn="l">
              <a:lnSpc>
                <a:spcPct val="115000"/>
              </a:lnSpc>
            </a:pPr>
            <a:r>
              <a:rPr sz="1500" b="1">
                <a:solidFill>
                  <a:srgbClr val="2D8F5A"/>
                </a:solidFill>
                <a:latin typeface="Calibri"/>
              </a:rPr>
              <a:t>• </a:t>
            </a:r>
            <a:r>
              <a:rPr sz="1500">
                <a:solidFill>
                  <a:srgbClr val="1F1F1F"/>
                </a:solidFill>
                <a:latin typeface="Calibri"/>
              </a:rPr>
              <a:t>Honeypot and anomaly only work because the attacker is naive (admin user / missing UA).</a:t>
            </a:r>
          </a:p>
          <a:p>
            <a:pPr algn="l">
              <a:lnSpc>
                <a:spcPct val="115000"/>
              </a:lnSpc>
            </a:pPr>
            <a:r>
              <a:rPr sz="1500" b="1">
                <a:solidFill>
                  <a:srgbClr val="2D8F5A"/>
                </a:solidFill>
                <a:latin typeface="Calibri"/>
              </a:rPr>
              <a:t>• </a:t>
            </a:r>
            <a:r>
              <a:rPr sz="1500">
                <a:solidFill>
                  <a:srgbClr val="1F1F1F"/>
                </a:solidFill>
                <a:latin typeface="Calibri"/>
              </a:rPr>
              <a:t>A header-aware attacker bypasses both - see M2_anomaly_normal_ua at 100% breach.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Lottery window (2-4% breach in 50 trials)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Defenses gated on N=5 failures: breach when password lands in attempts 1-5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54480"/>
          <a:ext cx="1146017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Breach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Median elapsed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Defense threshold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3B5C"/>
                          </a:solidFill>
                          <a:latin typeface="Calibri"/>
                        </a:rPr>
                        <a:t>B_account_lockout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C87A00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1.3s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5 fails -&gt; 60s 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3B5C"/>
                          </a:solidFill>
                          <a:latin typeface="Calibri"/>
                        </a:rPr>
                        <a:t>G_pow_naive_attacker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C87A00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1.3s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5 fails -&gt; PoW (no solver)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3B5C"/>
                          </a:solidFill>
                          <a:latin typeface="Calibri"/>
                        </a:rPr>
                        <a:t>J_captcha_naive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C87A00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1.3s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5 fails -&gt; CAPTCHA (no solver)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3B5C"/>
                          </a:solidFill>
                          <a:latin typeface="Calibri"/>
                        </a:rPr>
                        <a:t>I_perma_ban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C87A00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1.8s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8 fails -&gt; permanent ban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3B5C"/>
                          </a:solidFill>
                          <a:latin typeface="Calibri"/>
                        </a:rPr>
                        <a:t>C_ip_rate_limit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C87A00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2.1s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10 attempts / 30s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3B5C"/>
                          </a:solidFill>
                          <a:latin typeface="Calibri"/>
                        </a:rPr>
                        <a:t>H_layered_basic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C87A00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26.8s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lockout dominates the stack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3B5C"/>
                          </a:solidFill>
                          <a:latin typeface="Calibri"/>
                        </a:rPr>
                        <a:t>H3_full_stack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C87A00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30.1s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every mechanism enabled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4937760"/>
            <a:ext cx="11094415" cy="54864"/>
          </a:xfrm>
          <a:prstGeom prst="rect">
            <a:avLst/>
          </a:prstGeom>
          <a:solidFill>
            <a:srgbClr val="C8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1094415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C87A00"/>
                </a:solidFill>
                <a:latin typeface="Calibri"/>
              </a:rPr>
              <a:t>• </a:t>
            </a:r>
            <a:r>
              <a:rPr sz="1400">
                <a:solidFill>
                  <a:srgbClr val="1F1F1F"/>
                </a:solidFill>
                <a:latin typeface="Calibri"/>
              </a:rPr>
              <a:t>P(breach) ~= 5/N where N is the wordlist size - the gating window is a structural blind spot.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87A00"/>
                </a:solidFill>
                <a:latin typeface="Calibri"/>
              </a:rPr>
              <a:t>• </a:t>
            </a:r>
            <a:r>
              <a:rPr sz="1400">
                <a:solidFill>
                  <a:srgbClr val="1F1F1F"/>
                </a:solidFill>
                <a:latin typeface="Calibri"/>
              </a:rPr>
              <a:t>Median first-success position across all lottery breaches: 3.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87A00"/>
                </a:solidFill>
                <a:latin typeface="Calibri"/>
              </a:rPr>
              <a:t>• </a:t>
            </a:r>
            <a:r>
              <a:rPr sz="1400">
                <a:solidFill>
                  <a:srgbClr val="1F1F1F"/>
                </a:solidFill>
                <a:latin typeface="Calibri"/>
              </a:rPr>
              <a:t>Pair with a defense that's active from request 1 (slow hash, honeypot) to cover the window.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Slow-down only (100% breach in 50 trials)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Cost the attacker time, but the password came out every trial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772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Median time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Slowdown vs baseline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A_baseline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14.5s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D33636"/>
                          </a:solidFill>
                          <a:latin typeface="Calibri"/>
                        </a:rPr>
                        <a:t>K2_slow_hash_scrypt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14.4s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D33636"/>
                          </a:solidFill>
                          <a:latin typeface="Calibri"/>
                        </a:rPr>
                        <a:t>1.0x - no slowdown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M2_anomaly_normal_ua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14.4s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1.0x - bypassed by spoofed UA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J2_captcha_human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14.5s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F_pow_smart_attacker (18-bit)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34.4s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2.4x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D_tarpit_500ms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64.0s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4.4x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K_slow_hash_pbkdf2 (600k iters)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83.5s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5.8x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D2_tarpit_1s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113.5s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7.8x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D3_tarpit_2s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212.5s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D8F5A"/>
                          </a:solidFill>
                          <a:latin typeface="Calibri"/>
                        </a:rPr>
                        <a:t>14.7x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C87A00"/>
                          </a:solidFill>
                          <a:latin typeface="Calibri"/>
                        </a:rPr>
                        <a:t>F2_pow_22bit (smart, 22-bit)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305.9s (82% breach)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1F1F"/>
                          </a:solidFill>
                          <a:latin typeface="Calibri"/>
                        </a:rPr>
                        <a:t>21x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A6A6A"/>
                </a:solidFill>
                <a:latin typeface="Calibri"/>
              </a:rPr>
              <a:t>Tarpit and slow-hash slowdowns are linear in wordlist depth - predictable and tunable. (Next slide.)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Finding 1: scrypt was barely a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Default werkzeug scrypt:32768:8:1 was statistically indistinguishable from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4415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scrypt:32768:8:1 - 14.40s (vs 14.46s baseline). Lost in HTTP roundtrip noise.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Server-side scrypt cost dominated by n=32768 (~16ms on test hardware).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pbkdf2:sha256:600000 was meaningfully slower (83.5s, 5.8x baseline).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114800"/>
            <a:ext cx="11094415" cy="54864"/>
          </a:xfrm>
          <a:prstGeom prst="rect">
            <a:avLst/>
          </a:prstGeom>
          <a:solidFill>
            <a:srgbClr val="D3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D33636"/>
                </a:solidFill>
                <a:latin typeface="Calibri"/>
              </a:rPr>
              <a:t>Lesson: "we use a slow hash" is not a defense unless parameters are tuned for the target hardware. Production deployments should benchmark and aim for ~100 ms per verify. Don't trust library defaults.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Finding 2: PoW sits on a probabilistic cliff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Past a difficulty threshold, PoW shifts from slow-down to probabilistic block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9441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Difficulty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Breach rate (50 trials)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Median time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F_pow_smart_attacker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18-bit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34.4s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C87A00"/>
                          </a:solidFill>
                          <a:latin typeface="Calibri"/>
                        </a:rPr>
                        <a:t>F2_pow_22bit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22-bit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C87A00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F1F1F"/>
                          </a:solidFill>
                          <a:latin typeface="Calibri"/>
                        </a:rPr>
                        <a:t>305.9s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11094415" cy="2560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3B5C"/>
                </a:solidFill>
                <a:latin typeface="Calibri"/>
              </a:rPr>
              <a:t>• </a:t>
            </a:r>
            <a:r>
              <a:rPr sz="1600">
                <a:solidFill>
                  <a:srgbClr val="1F1F1F"/>
                </a:solidFill>
                <a:latin typeface="Calibri"/>
              </a:rPr>
              <a:t>At 22-bit difficulty the attacker's 5M-attempt-per-puzzle budget runs out on roughly 1 in 5 trials.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3B5C"/>
                </a:solidFill>
                <a:latin typeface="Calibri"/>
              </a:rPr>
              <a:t>• </a:t>
            </a:r>
            <a:r>
              <a:rPr sz="1600">
                <a:solidFill>
                  <a:srgbClr val="1F1F1F"/>
                </a:solidFill>
                <a:latin typeface="Calibri"/>
              </a:rPr>
              <a:t>Defense moves from slow-down to probabilistic block.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3B5C"/>
                </a:solidFill>
                <a:latin typeface="Calibri"/>
              </a:rPr>
              <a:t>• </a:t>
            </a:r>
            <a:r>
              <a:rPr sz="1600">
                <a:solidFill>
                  <a:srgbClr val="1F1F1F"/>
                </a:solidFill>
                <a:latin typeface="Calibri"/>
              </a:rPr>
              <a:t>At 200-word the same config breached 30/33 (91%) - more depth means more puzzles, but the solver kept squeaking through.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3B5C"/>
                </a:solidFill>
                <a:latin typeface="Calibri"/>
              </a:rPr>
              <a:t>• </a:t>
            </a:r>
            <a:r>
              <a:rPr sz="1600">
                <a:solidFill>
                  <a:srgbClr val="1F1F1F"/>
                </a:solidFill>
                <a:latin typeface="Calibri"/>
              </a:rPr>
              <a:t>Cliff is a function of solver-budget per puzzle, not just difficulty bits.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Finding 3: time scales linearly with wordlist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Each line's slope is the per-attempt cost the defense imposes</a:t>
            </a:r>
          </a:p>
        </p:txBody>
      </p:sp>
      <p:pic>
        <p:nvPicPr>
          <p:cNvPr id="5" name="Picture 4" descr="chart_wordlist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86384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6459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3B5C"/>
                </a:solidFill>
                <a:latin typeface="Calibri"/>
              </a:rPr>
              <a:t>Per-attempt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94560"/>
            <a:ext cx="36576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D3_tarpit_2s: ~2.0 s / attempt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D2_tarpit_1s: ~1.0 s / attempt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K_slow_hash_pbkdf2: ~0.83 s / attempt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D_tarpit_500ms: ~0.5 s / attempt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F_pow_smart_attacker: ~0.4 s / attempt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A_baseline / K2_scrypt: overlap - scrypt added zero observable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548640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A6A6A"/>
                </a:solidFill>
                <a:latin typeface="Calibri"/>
              </a:rPr>
              <a:t>Buying time per attempt: budget = cost x depth.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Finding 4: lottery breaches track 5/N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Defenses gated on N=5 failures leak when password lands in attempts 1-5</a:t>
            </a:r>
          </a:p>
        </p:txBody>
      </p:sp>
      <p:pic>
        <p:nvPicPr>
          <p:cNvPr id="5" name="Picture 4" descr="chart_breach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86384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645920"/>
            <a:ext cx="36576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100-word: 5/100 = 5% expected, 2-4% observed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200-word: 5/200 = 2.5%, 2% observed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300-word: 5/300 = 1.7%, 0% observed (sampling noise)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500-word: 5/500 = 1%, 2-4% observed for some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3B5C"/>
                </a:solidFill>
                <a:latin typeface="Calibri"/>
              </a:rPr>
              <a:t>• </a:t>
            </a:r>
            <a:r>
              <a:rPr sz="1300">
                <a:solidFill>
                  <a:srgbClr val="1F1F1F"/>
                </a:solidFill>
                <a:latin typeface="Calibri"/>
              </a:rPr>
              <a:t>I_perma_ban gated on 8 fails - 8/N decays slower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943600"/>
            <a:ext cx="11094415" cy="54864"/>
          </a:xfrm>
          <a:prstGeom prst="rect">
            <a:avLst/>
          </a:prstGeom>
          <a:solidFill>
            <a:srgbClr val="C8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Calibri"/>
              </a:rPr>
              <a:t>Operational fix: pair gated defenses with one that's active from request 1 (slow hash, honeypot, anomaly).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Layered defense converges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Account lockout dominates - the rest are insurance for when it fails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772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Defenses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Median time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Breach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H_layered_basic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lockout + rate-limit + tarpit + PoW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26.8s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C87A00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H2_layered_with_ban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+ perma-ban + slow hash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30.4s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C87A00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H3_full_stack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+ CAPTCHA + honeypot + anomaly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30.1s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C87A00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4114800"/>
            <a:ext cx="11094415" cy="54864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1094415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3B5C"/>
                </a:solidFill>
                <a:latin typeface="Calibri"/>
              </a:rPr>
              <a:t>• </a:t>
            </a:r>
            <a:r>
              <a:rPr sz="1500">
                <a:solidFill>
                  <a:srgbClr val="1F1F1F"/>
                </a:solidFill>
                <a:latin typeface="Calibri"/>
              </a:rPr>
              <a:t>Wall-clock is dominated by account lockout - other defenses never get exercised.</a:t>
            </a:r>
          </a:p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3B5C"/>
                </a:solidFill>
                <a:latin typeface="Calibri"/>
              </a:rPr>
              <a:t>• </a:t>
            </a:r>
            <a:r>
              <a:rPr sz="1500">
                <a:solidFill>
                  <a:srgbClr val="1F1F1F"/>
                </a:solidFill>
                <a:latin typeface="Calibri"/>
              </a:rPr>
              <a:t>The 2-4% breach is the same lottery-window effect: password lands in attempts 1-5 before lockout activates.</a:t>
            </a:r>
          </a:p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3B5C"/>
                </a:solidFill>
                <a:latin typeface="Calibri"/>
              </a:rPr>
              <a:t>• </a:t>
            </a:r>
            <a:r>
              <a:rPr sz="1500">
                <a:solidFill>
                  <a:srgbClr val="1F1F1F"/>
                </a:solidFill>
                <a:latin typeface="Calibri"/>
              </a:rPr>
              <a:t>That's a feature, not a bug: the cheapest defense wins, the rest are insurance for when it fails or is misconfigured.</a:t>
            </a:r>
          </a:p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3B5C"/>
                </a:solidFill>
                <a:latin typeface="Calibri"/>
              </a:rPr>
              <a:t>• </a:t>
            </a:r>
            <a:r>
              <a:rPr sz="1500">
                <a:solidFill>
                  <a:srgbClr val="1F1F1F"/>
                </a:solidFill>
                <a:latin typeface="Calibri"/>
              </a:rPr>
              <a:t>Defense-in-depth is about failure modes, not steady-state performance.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520440"/>
            <a:ext cx="12191695" cy="54864"/>
          </a:xfrm>
          <a:prstGeom prst="rect">
            <a:avLst/>
          </a:prstGeom>
          <a:solidFill>
            <a:srgbClr val="D3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10944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F5C8A"/>
                </a:solidFill>
                <a:latin typeface="Calibri"/>
              </a:rPr>
              <a:t>What to actually deploy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What to actually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Minimum-viable stack - three layers with tuned parameters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7729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>
                    <a:solidFill>
                      <a:srgbClr val="1A3B5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D8F5A"/>
                          </a:solidFill>
                          <a:latin typeface="Calibri"/>
                        </a:rPr>
                        <a:t>1. Account lockout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~5 failures -&gt; ≥60s lockout. Reset on legitimate login. Cheap, hard-stops named-target attacks.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D8F5A"/>
                          </a:solidFill>
                          <a:latin typeface="Calibri"/>
                        </a:rPr>
                        <a:t>2. IP-based throttling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Sliding window or exponential backoff. Cap, don't permanent-ban (avoid IP-reuse pain).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D8F5A"/>
                          </a:solidFill>
                          <a:latin typeface="Calibri"/>
                        </a:rPr>
                        <a:t>3. Slow password hash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F1F1F"/>
                          </a:solidFill>
                          <a:latin typeface="Calibri"/>
                        </a:rPr>
                        <a:t>argon2id or pbkdf2, tuned to ~100ms/verify on prod hardware. Verify cost - defaults are weak.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4206240"/>
            <a:ext cx="11094415" cy="54864"/>
          </a:xfrm>
          <a:prstGeom prst="rect">
            <a:avLst/>
          </a:prstGeom>
          <a:solidFill>
            <a:srgbClr val="D3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389120"/>
            <a:ext cx="11094415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33636"/>
                </a:solidFill>
                <a:latin typeface="Calibri"/>
              </a:rPr>
              <a:t>• </a:t>
            </a:r>
            <a:r>
              <a:rPr sz="1500">
                <a:solidFill>
                  <a:srgbClr val="1F1F1F"/>
                </a:solidFill>
                <a:latin typeface="Calibri"/>
              </a:rPr>
              <a:t>Don't rely on (against motivated attackers): tarpits alone, default-parameter scrypt, header anomaly checks (trivially defeated by a User-Agent string), low-bit PoW.</a:t>
            </a:r>
          </a:p>
          <a:p>
            <a:pPr algn="l">
              <a:lnSpc>
                <a:spcPct val="115000"/>
              </a:lnSpc>
            </a:pPr>
            <a:r>
              <a:rPr sz="1500" b="1">
                <a:solidFill>
                  <a:srgbClr val="D33636"/>
                </a:solidFill>
                <a:latin typeface="Calibri"/>
              </a:rPr>
              <a:t>• </a:t>
            </a:r>
            <a:r>
              <a:rPr sz="1500">
                <a:solidFill>
                  <a:srgbClr val="1F1F1F"/>
                </a:solidFill>
                <a:latin typeface="Calibri"/>
              </a:rPr>
              <a:t>Useful add-ons: honeypot usernames, geographic anomaly scoring, MFA on sensitive accounts.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3B5C"/>
                </a:solidFill>
                <a:latin typeface="Calibr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A6A6A"/>
                </a:solidFill>
                <a:latin typeface="Calibri"/>
              </a:rPr>
              <a:t>Where the framework can be extended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Distributed attacker - multi-IP, multi-process to expose IP-only defenses.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Cross-system comparison - point the same attack client at WordPress, Authelia, Gitea, Keycloak. The framework already speaks plain HTTP.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Adaptive attackers - observe response timing and codes, switch strategy mid-run.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Real CAPTCHA / MFA endpoints - replace magic-token stubs with hCaptcha or TOTP.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B5C"/>
                </a:solidFill>
                <a:latin typeface="Calibri"/>
              </a:rPr>
              <a:t>• </a:t>
            </a:r>
            <a:r>
              <a:rPr sz="1800">
                <a:solidFill>
                  <a:srgbClr val="1F1F1F"/>
                </a:solidFill>
                <a:latin typeface="Calibri"/>
              </a:rPr>
              <a:t>Cost modeling - translate "13x slowdown" into dollar cost per credential at cloud-attacker rates.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94415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6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